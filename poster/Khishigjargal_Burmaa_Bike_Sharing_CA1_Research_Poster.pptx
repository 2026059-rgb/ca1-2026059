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0275213" cy="213883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37" d="100"/>
          <a:sy n="37" d="100"/>
        </p:scale>
        <p:origin x="331"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599C1-45CF-4BB8-8FE5-A5A5FDA4D4D2}" type="datetimeFigureOut">
              <a:rPr lang="en-US" smtClean="0"/>
              <a:t>10/30/2026</a:t>
            </a:fld>
            <a:endParaRPr lang="en-US"/>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C83DA-0DEC-461A-B9FA-1AB6AE946EAC}" type="slidenum">
              <a:rPr lang="en-US" smtClean="0"/>
              <a:t>‹#›</a:t>
            </a:fld>
            <a:endParaRPr lang="en-US"/>
          </a:p>
        </p:txBody>
      </p:sp>
    </p:spTree>
    <p:extLst>
      <p:ext uri="{BB962C8B-B14F-4D97-AF65-F5344CB8AC3E}">
        <p14:creationId xmlns:p14="http://schemas.microsoft.com/office/powerpoint/2010/main" val="1086010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EC83DA-0DEC-461A-B9FA-1AB6AE946EAC}" type="slidenum">
              <a:rPr lang="en-US" smtClean="0"/>
              <a:t>1</a:t>
            </a:fld>
            <a:endParaRPr lang="en-US"/>
          </a:p>
        </p:txBody>
      </p:sp>
    </p:spTree>
    <p:extLst>
      <p:ext uri="{BB962C8B-B14F-4D97-AF65-F5344CB8AC3E}">
        <p14:creationId xmlns:p14="http://schemas.microsoft.com/office/powerpoint/2010/main" val="400623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30275784" cy="2514600"/>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20040"/>
            <a:ext cx="28346400" cy="960120"/>
          </a:xfrm>
          <a:prstGeom prst="rect">
            <a:avLst/>
          </a:prstGeom>
          <a:noFill/>
        </p:spPr>
        <p:txBody>
          <a:bodyPr wrap="square" lIns="45720" tIns="18288">
            <a:spAutoFit/>
          </a:bodyPr>
          <a:lstStyle/>
          <a:p>
            <a:pPr>
              <a:spcAft>
                <a:spcPts val="600"/>
              </a:spcAft>
              <a:defRPr sz="3900" b="1">
                <a:solidFill>
                  <a:srgbClr val="FFFFFF"/>
                </a:solidFill>
                <a:latin typeface="Aptos"/>
              </a:defRPr>
            </a:pPr>
            <a:r>
              <a:t>BIKE SHARING DEMAND ANALYSIS</a:t>
            </a:r>
          </a:p>
        </p:txBody>
      </p:sp>
      <p:sp>
        <p:nvSpPr>
          <p:cNvPr id="4" name="TextBox 3"/>
          <p:cNvSpPr txBox="1"/>
          <p:nvPr/>
        </p:nvSpPr>
        <p:spPr>
          <a:xfrm>
            <a:off x="914400" y="1417320"/>
            <a:ext cx="27432000" cy="594360"/>
          </a:xfrm>
          <a:prstGeom prst="rect">
            <a:avLst/>
          </a:prstGeom>
          <a:noFill/>
        </p:spPr>
        <p:txBody>
          <a:bodyPr wrap="square" lIns="45720" tIns="18288">
            <a:spAutoFit/>
          </a:bodyPr>
          <a:lstStyle/>
          <a:p>
            <a:pPr>
              <a:spcAft>
                <a:spcPts val="600"/>
              </a:spcAft>
              <a:defRPr sz="2200" b="0">
                <a:solidFill>
                  <a:srgbClr val="DAEEF5"/>
                </a:solidFill>
                <a:latin typeface="Aptos"/>
              </a:defRPr>
            </a:pPr>
            <a:r>
              <a:t>Clustering and Time Series Forecasting  |  Machine Learning for Business — CA1</a:t>
            </a:r>
          </a:p>
        </p:txBody>
      </p:sp>
      <p:sp>
        <p:nvSpPr>
          <p:cNvPr id="5" name="TextBox 4"/>
          <p:cNvSpPr txBox="1"/>
          <p:nvPr/>
        </p:nvSpPr>
        <p:spPr>
          <a:xfrm>
            <a:off x="914400" y="2587752"/>
            <a:ext cx="27432000" cy="326243"/>
          </a:xfrm>
          <a:prstGeom prst="rect">
            <a:avLst/>
          </a:prstGeom>
          <a:noFill/>
        </p:spPr>
        <p:txBody>
          <a:bodyPr wrap="square" lIns="45720" tIns="18288">
            <a:spAutoFit/>
          </a:bodyPr>
          <a:lstStyle/>
          <a:p>
            <a:pPr>
              <a:spcAft>
                <a:spcPts val="600"/>
              </a:spcAft>
              <a:defRPr sz="1700" b="0">
                <a:solidFill>
                  <a:srgbClr val="465462"/>
                </a:solidFill>
                <a:latin typeface="Aptos"/>
              </a:defRPr>
            </a:pPr>
            <a:r>
              <a:rPr dirty="0"/>
              <a:t>Student: </a:t>
            </a:r>
            <a:r>
              <a:rPr dirty="0" err="1"/>
              <a:t>Khishigjargal</a:t>
            </a:r>
            <a:r>
              <a:rPr dirty="0"/>
              <a:t> </a:t>
            </a:r>
            <a:r>
              <a:rPr dirty="0" err="1"/>
              <a:t>Burmaa</a:t>
            </a:r>
            <a:r>
              <a:rPr dirty="0"/>
              <a:t> </a:t>
            </a:r>
            <a:r>
              <a:rPr lang="en-US" dirty="0"/>
              <a:t> • </a:t>
            </a:r>
            <a:r>
              <a:rPr dirty="0"/>
              <a:t> </a:t>
            </a:r>
            <a:r>
              <a:rPr lang="en-US" dirty="0"/>
              <a:t>Student Number: 2026059  </a:t>
            </a:r>
            <a:r>
              <a:rPr dirty="0"/>
              <a:t>•   CCT College Dublin   •   October 2026</a:t>
            </a:r>
          </a:p>
        </p:txBody>
      </p:sp>
      <p:sp>
        <p:nvSpPr>
          <p:cNvPr id="6" name="Rounded Rectangle 5"/>
          <p:cNvSpPr/>
          <p:nvPr/>
        </p:nvSpPr>
        <p:spPr>
          <a:xfrm>
            <a:off x="777240" y="3273552"/>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3544" y="3310128"/>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INTRODUCTION &amp; OBJECTIVES</a:t>
            </a:r>
          </a:p>
        </p:txBody>
      </p:sp>
      <p:sp>
        <p:nvSpPr>
          <p:cNvPr id="8" name="TextBox 7"/>
          <p:cNvSpPr txBox="1"/>
          <p:nvPr/>
        </p:nvSpPr>
        <p:spPr>
          <a:xfrm>
            <a:off x="850392" y="3858768"/>
            <a:ext cx="9043416" cy="201168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This study examines daily bicycle rental demand to identify patterns and compare clustering and forecasting methods. Objectives include exploratory analysis, grouping similar days, and assessing the accuracy of ARIMA and SARIMA models.</a:t>
            </a:r>
          </a:p>
        </p:txBody>
      </p:sp>
      <p:sp>
        <p:nvSpPr>
          <p:cNvPr id="9" name="Rounded Rectangle 8"/>
          <p:cNvSpPr/>
          <p:nvPr/>
        </p:nvSpPr>
        <p:spPr>
          <a:xfrm>
            <a:off x="777240" y="6419088"/>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 y="6455664"/>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DATASET &amp; METHODS</a:t>
            </a:r>
          </a:p>
        </p:txBody>
      </p:sp>
      <p:sp>
        <p:nvSpPr>
          <p:cNvPr id="11" name="TextBox 10"/>
          <p:cNvSpPr txBox="1"/>
          <p:nvPr/>
        </p:nvSpPr>
        <p:spPr>
          <a:xfrm>
            <a:off x="850392" y="7004303"/>
            <a:ext cx="9043416" cy="278892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UCI Bike Sharing Dataset: 731 daily observations and 16 variables (2011–2012). Weather and rental features were explored. </a:t>
            </a:r>
            <a:r>
              <a:rPr dirty="0" err="1"/>
              <a:t>Standardised</a:t>
            </a:r>
            <a:r>
              <a:rPr dirty="0"/>
              <a:t> temp, hum, windspeed and </a:t>
            </a:r>
            <a:r>
              <a:rPr dirty="0" err="1"/>
              <a:t>cnt</a:t>
            </a:r>
            <a:r>
              <a:rPr dirty="0"/>
              <a:t> were clustered using K-Means and Agglomerative Clustering. Forecasting used an 80/20 chronological split.</a:t>
            </a:r>
          </a:p>
        </p:txBody>
      </p:sp>
      <p:sp>
        <p:nvSpPr>
          <p:cNvPr id="12" name="Rounded Rectangle 11"/>
          <p:cNvSpPr/>
          <p:nvPr/>
        </p:nvSpPr>
        <p:spPr>
          <a:xfrm>
            <a:off x="777240" y="1046988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10506455"/>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DAILY DEMAND OVER TIME</a:t>
            </a:r>
          </a:p>
        </p:txBody>
      </p:sp>
      <p:sp>
        <p:nvSpPr>
          <p:cNvPr id="14" name="TextBox 13"/>
          <p:cNvSpPr txBox="1"/>
          <p:nvPr/>
        </p:nvSpPr>
        <p:spPr>
          <a:xfrm>
            <a:off x="850392" y="11055096"/>
            <a:ext cx="9043416" cy="100584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Daily rental demand changes across the two years, with pronounced variation over time.</a:t>
            </a:r>
          </a:p>
        </p:txBody>
      </p:sp>
      <p:pic>
        <p:nvPicPr>
          <p:cNvPr id="15" name="Picture 14" descr="plot_11.png"/>
          <p:cNvPicPr>
            <a:picLocks noChangeAspect="1"/>
          </p:cNvPicPr>
          <p:nvPr/>
        </p:nvPicPr>
        <p:blipFill>
          <a:blip r:embed="rId3"/>
          <a:stretch>
            <a:fillRect/>
          </a:stretch>
        </p:blipFill>
        <p:spPr>
          <a:xfrm>
            <a:off x="886968" y="12416267"/>
            <a:ext cx="8970264" cy="3696744"/>
          </a:xfrm>
          <a:prstGeom prst="rect">
            <a:avLst/>
          </a:prstGeom>
        </p:spPr>
      </p:pic>
      <p:sp>
        <p:nvSpPr>
          <p:cNvPr id="16" name="Rounded Rectangle 15"/>
          <p:cNvSpPr/>
          <p:nvPr/>
        </p:nvSpPr>
        <p:spPr>
          <a:xfrm>
            <a:off x="777240" y="1668780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 y="16724376"/>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BUSINESS IMPLICATIONS</a:t>
            </a:r>
          </a:p>
        </p:txBody>
      </p:sp>
      <p:sp>
        <p:nvSpPr>
          <p:cNvPr id="18" name="TextBox 17"/>
          <p:cNvSpPr txBox="1"/>
          <p:nvPr/>
        </p:nvSpPr>
        <p:spPr>
          <a:xfrm>
            <a:off x="850392" y="17273016"/>
            <a:ext cx="9043416" cy="182880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Demand grouping may help plan bicycle availability and staffing. Forecast errors are too large for dependable operational decisions without further validation and improved models.</a:t>
            </a:r>
          </a:p>
        </p:txBody>
      </p:sp>
      <p:sp>
        <p:nvSpPr>
          <p:cNvPr id="19" name="Rounded Rectangle 18"/>
          <p:cNvSpPr/>
          <p:nvPr/>
        </p:nvSpPr>
        <p:spPr>
          <a:xfrm>
            <a:off x="10533888" y="3273552"/>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80192" y="3310128"/>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CLUSTERING RESULTS</a:t>
            </a:r>
          </a:p>
        </p:txBody>
      </p:sp>
      <p:sp>
        <p:nvSpPr>
          <p:cNvPr id="21" name="TextBox 20"/>
          <p:cNvSpPr txBox="1"/>
          <p:nvPr/>
        </p:nvSpPr>
        <p:spPr>
          <a:xfrm>
            <a:off x="10607040" y="3858768"/>
            <a:ext cx="9043416" cy="233172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K-Means: silhouette 0.3017; Davies–Bouldin 1.3592. Agglomerative: silhouette 0.2478; Davies–Bouldin 1.4384. K-Means performed better on both measures, although cluster separation was modest.</a:t>
            </a:r>
          </a:p>
        </p:txBody>
      </p:sp>
      <p:sp>
        <p:nvSpPr>
          <p:cNvPr id="22" name="Rounded Rectangle 21"/>
          <p:cNvSpPr/>
          <p:nvPr/>
        </p:nvSpPr>
        <p:spPr>
          <a:xfrm>
            <a:off x="10533888" y="685800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80192" y="6894576"/>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LOW- VS HIGH-DEMAND DAYS</a:t>
            </a:r>
          </a:p>
        </p:txBody>
      </p:sp>
      <p:sp>
        <p:nvSpPr>
          <p:cNvPr id="24" name="TextBox 23"/>
          <p:cNvSpPr txBox="1"/>
          <p:nvPr/>
        </p:nvSpPr>
        <p:spPr>
          <a:xfrm>
            <a:off x="10607040" y="7443216"/>
            <a:ext cx="9043416" cy="128016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K-Means identified 313 lower-demand days (mean 2,966.57 rentals) and 418 higher-demand days (mean 5,655.84 rentals).</a:t>
            </a:r>
          </a:p>
        </p:txBody>
      </p:sp>
      <p:pic>
        <p:nvPicPr>
          <p:cNvPr id="25" name="Picture 24" descr="plot_31.png"/>
          <p:cNvPicPr>
            <a:picLocks noChangeAspect="1"/>
          </p:cNvPicPr>
          <p:nvPr/>
        </p:nvPicPr>
        <p:blipFill>
          <a:blip r:embed="rId4"/>
          <a:stretch>
            <a:fillRect/>
          </a:stretch>
        </p:blipFill>
        <p:spPr>
          <a:xfrm>
            <a:off x="11143513" y="9144000"/>
            <a:ext cx="7970468" cy="4754880"/>
          </a:xfrm>
          <a:prstGeom prst="rect">
            <a:avLst/>
          </a:prstGeom>
        </p:spPr>
      </p:pic>
      <p:sp>
        <p:nvSpPr>
          <p:cNvPr id="26" name="Rounded Rectangle 25"/>
          <p:cNvSpPr/>
          <p:nvPr/>
        </p:nvSpPr>
        <p:spPr>
          <a:xfrm>
            <a:off x="10533888" y="1421892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680192" y="14255496"/>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FORECASTING METHODS</a:t>
            </a:r>
          </a:p>
        </p:txBody>
      </p:sp>
      <p:sp>
        <p:nvSpPr>
          <p:cNvPr id="28" name="TextBox 27"/>
          <p:cNvSpPr txBox="1"/>
          <p:nvPr/>
        </p:nvSpPr>
        <p:spPr>
          <a:xfrm>
            <a:off x="10607040" y="14804136"/>
            <a:ext cx="9043416" cy="219456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ARIMA(2,1,2) and SARIMA(2,1,2)(0,1,1,7) were fitted to the training data. ADF tests indicated non-stationarity before differencing. Models were evaluated against the final 147 days.</a:t>
            </a:r>
          </a:p>
        </p:txBody>
      </p:sp>
      <p:sp>
        <p:nvSpPr>
          <p:cNvPr id="29" name="Rounded Rectangle 28"/>
          <p:cNvSpPr/>
          <p:nvPr/>
        </p:nvSpPr>
        <p:spPr>
          <a:xfrm>
            <a:off x="10533888" y="1787652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680192" y="17913096"/>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LIMITATIONS</a:t>
            </a:r>
          </a:p>
        </p:txBody>
      </p:sp>
      <p:sp>
        <p:nvSpPr>
          <p:cNvPr id="31" name="TextBox 30"/>
          <p:cNvSpPr txBox="1"/>
          <p:nvPr/>
        </p:nvSpPr>
        <p:spPr>
          <a:xfrm>
            <a:off x="10607040" y="18461736"/>
            <a:ext cx="9043416" cy="182880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Historical data may not reflect present demand. The test horizon is long, and both forecasts miss major demand changes. SARIMA also produced parameter-uncertainty warnings.</a:t>
            </a:r>
          </a:p>
        </p:txBody>
      </p:sp>
      <p:sp>
        <p:nvSpPr>
          <p:cNvPr id="32" name="Rounded Rectangle 31"/>
          <p:cNvSpPr/>
          <p:nvPr/>
        </p:nvSpPr>
        <p:spPr>
          <a:xfrm>
            <a:off x="20290536" y="3273552"/>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436840" y="3310128"/>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FORECAST RESULTS</a:t>
            </a:r>
          </a:p>
        </p:txBody>
      </p:sp>
      <p:sp>
        <p:nvSpPr>
          <p:cNvPr id="34" name="TextBox 33"/>
          <p:cNvSpPr txBox="1"/>
          <p:nvPr/>
        </p:nvSpPr>
        <p:spPr>
          <a:xfrm>
            <a:off x="20363688" y="3858768"/>
            <a:ext cx="9043416" cy="233172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ARIMA: MAE 1,550.72; RMSE 2,162.51; MAPE 272.56%. SARIMA: MAE 2,007.49; RMSE 2,822.66; MAPE 308.95%. ARIMA performed better on the held-out test period.</a:t>
            </a:r>
          </a:p>
        </p:txBody>
      </p:sp>
      <p:pic>
        <p:nvPicPr>
          <p:cNvPr id="35" name="Picture 34" descr="plot_73.png"/>
          <p:cNvPicPr>
            <a:picLocks noChangeAspect="1"/>
          </p:cNvPicPr>
          <p:nvPr/>
        </p:nvPicPr>
        <p:blipFill>
          <a:blip r:embed="rId5"/>
          <a:stretch>
            <a:fillRect/>
          </a:stretch>
        </p:blipFill>
        <p:spPr>
          <a:xfrm>
            <a:off x="20427696" y="7032612"/>
            <a:ext cx="8915400" cy="3674134"/>
          </a:xfrm>
          <a:prstGeom prst="rect">
            <a:avLst/>
          </a:prstGeom>
        </p:spPr>
      </p:pic>
      <p:sp>
        <p:nvSpPr>
          <p:cNvPr id="36" name="TextBox 35"/>
          <p:cNvSpPr txBox="1"/>
          <p:nvPr/>
        </p:nvSpPr>
        <p:spPr>
          <a:xfrm>
            <a:off x="20564856" y="11000232"/>
            <a:ext cx="8641080" cy="347472"/>
          </a:xfrm>
          <a:prstGeom prst="rect">
            <a:avLst/>
          </a:prstGeom>
          <a:noFill/>
        </p:spPr>
        <p:txBody>
          <a:bodyPr wrap="square" lIns="45720" tIns="18288">
            <a:spAutoFit/>
          </a:bodyPr>
          <a:lstStyle/>
          <a:p>
            <a:pPr>
              <a:spcAft>
                <a:spcPts val="600"/>
              </a:spcAft>
              <a:defRPr sz="1500" b="0">
                <a:solidFill>
                  <a:srgbClr val="465462"/>
                </a:solidFill>
                <a:latin typeface="Aptos"/>
              </a:defRPr>
            </a:pPr>
            <a:r>
              <a:t>ARIMA forecast compared with observed rentals</a:t>
            </a:r>
          </a:p>
        </p:txBody>
      </p:sp>
      <p:pic>
        <p:nvPicPr>
          <p:cNvPr id="37" name="Picture 36" descr="plot_97.png"/>
          <p:cNvPicPr>
            <a:picLocks noChangeAspect="1"/>
          </p:cNvPicPr>
          <p:nvPr/>
        </p:nvPicPr>
        <p:blipFill>
          <a:blip r:embed="rId6"/>
          <a:stretch>
            <a:fillRect/>
          </a:stretch>
        </p:blipFill>
        <p:spPr>
          <a:xfrm>
            <a:off x="21752642" y="11612880"/>
            <a:ext cx="6265506" cy="3886200"/>
          </a:xfrm>
          <a:prstGeom prst="rect">
            <a:avLst/>
          </a:prstGeom>
        </p:spPr>
      </p:pic>
      <p:sp>
        <p:nvSpPr>
          <p:cNvPr id="38" name="Rounded Rectangle 37"/>
          <p:cNvSpPr/>
          <p:nvPr/>
        </p:nvSpPr>
        <p:spPr>
          <a:xfrm>
            <a:off x="20290536" y="15727680"/>
            <a:ext cx="9189720" cy="475488"/>
          </a:xfrm>
          <a:prstGeom prst="roundRect">
            <a:avLst/>
          </a:prstGeom>
          <a:solidFill>
            <a:srgbClr val="13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0436840" y="15764255"/>
            <a:ext cx="8915400" cy="384048"/>
          </a:xfrm>
          <a:prstGeom prst="rect">
            <a:avLst/>
          </a:prstGeom>
          <a:noFill/>
        </p:spPr>
        <p:txBody>
          <a:bodyPr wrap="square" lIns="45720" tIns="18288">
            <a:spAutoFit/>
          </a:bodyPr>
          <a:lstStyle/>
          <a:p>
            <a:pPr>
              <a:spcAft>
                <a:spcPts val="600"/>
              </a:spcAft>
              <a:defRPr sz="2000" b="1">
                <a:solidFill>
                  <a:srgbClr val="FFFFFF"/>
                </a:solidFill>
                <a:latin typeface="Aptos"/>
              </a:defRPr>
            </a:pPr>
            <a:r>
              <a:t>CONCLUSION</a:t>
            </a:r>
          </a:p>
        </p:txBody>
      </p:sp>
      <p:sp>
        <p:nvSpPr>
          <p:cNvPr id="40" name="TextBox 39"/>
          <p:cNvSpPr txBox="1"/>
          <p:nvPr/>
        </p:nvSpPr>
        <p:spPr>
          <a:xfrm>
            <a:off x="20363688" y="16312896"/>
            <a:ext cx="9043416" cy="1691640"/>
          </a:xfrm>
          <a:prstGeom prst="rect">
            <a:avLst/>
          </a:prstGeom>
          <a:noFill/>
        </p:spPr>
        <p:txBody>
          <a:bodyPr wrap="square" lIns="45720" tIns="18288">
            <a:spAutoFit/>
          </a:bodyPr>
          <a:lstStyle/>
          <a:p>
            <a:pPr>
              <a:spcAft>
                <a:spcPts val="600"/>
              </a:spcAft>
              <a:defRPr sz="1700" b="0">
                <a:solidFill>
                  <a:srgbClr val="132F49"/>
                </a:solidFill>
                <a:latin typeface="Aptos"/>
              </a:defRPr>
            </a:pPr>
            <a:r>
              <a:rPr dirty="0"/>
              <a:t>K-Means gave the stronger clustering metrics; ARIMA had lower test errors than SARIMA. Nevertheless, the results highlight important limits of these models for long-range forecasting.</a:t>
            </a:r>
          </a:p>
        </p:txBody>
      </p:sp>
      <p:sp>
        <p:nvSpPr>
          <p:cNvPr id="41" name="Rounded Rectangle 40"/>
          <p:cNvSpPr/>
          <p:nvPr/>
        </p:nvSpPr>
        <p:spPr>
          <a:xfrm>
            <a:off x="777240" y="20235672"/>
            <a:ext cx="28693872" cy="749808"/>
          </a:xfrm>
          <a:prstGeom prst="roundRect">
            <a:avLst/>
          </a:prstGeom>
          <a:solidFill>
            <a:srgbClr val="F2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 y="20345400"/>
            <a:ext cx="28346400" cy="795528"/>
          </a:xfrm>
          <a:prstGeom prst="rect">
            <a:avLst/>
          </a:prstGeom>
          <a:noFill/>
        </p:spPr>
        <p:txBody>
          <a:bodyPr wrap="square" lIns="45720" tIns="18288">
            <a:spAutoFit/>
          </a:bodyPr>
          <a:lstStyle/>
          <a:p>
            <a:pPr>
              <a:spcAft>
                <a:spcPts val="400"/>
              </a:spcAft>
              <a:defRPr sz="1300" b="0">
                <a:solidFill>
                  <a:srgbClr val="465462"/>
                </a:solidFill>
                <a:latin typeface="Aptos"/>
              </a:defRPr>
            </a:pPr>
            <a:r>
              <a:rPr sz="1900" b="1" dirty="0">
                <a:solidFill>
                  <a:srgbClr val="123953"/>
                </a:solidFill>
              </a:rPr>
              <a:t>REFERENCES</a:t>
            </a:r>
          </a:p>
          <a:p>
            <a:r>
              <a:rPr sz="1300" dirty="0" err="1">
                <a:solidFill>
                  <a:srgbClr val="192D3C"/>
                </a:solidFill>
              </a:rPr>
              <a:t>Fanaee</a:t>
            </a:r>
            <a:r>
              <a:rPr sz="1300" dirty="0">
                <a:solidFill>
                  <a:srgbClr val="192D3C"/>
                </a:solidFill>
              </a:rPr>
              <a:t>-T, H. &amp; Gama, J. (2014), Progress in Artificial Intelligence, 2, 113–127.   |   UCI Machine Learning Repository, Bike Sharing Dataset (2013).   |   Hyndman, R.J. &amp; Athanasopoulos, G. (2021), Forecasting: Principles and Practice, 3rd ed.</a:t>
            </a:r>
          </a:p>
        </p:txBody>
      </p:sp>
    </p:spTree>
  </p:cSld>
  <p:clrMapOvr>
    <a:masterClrMapping/>
  </p:clrMapOvr>
  <mc:AlternateContent xmlns:mc="http://schemas.openxmlformats.org/markup-compatibility/2006">
    <mc:Choice xmlns:p14="http://schemas.microsoft.com/office/powerpoint/2010/main" Requires="p14">
      <p:transition spd="slow" p14:dur="2000" advTm="7314"/>
    </mc:Choice>
    <mc:Fallback>
      <p:transition spd="slow" advTm="7314"/>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416</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HP</cp:lastModifiedBy>
  <cp:revision>3</cp:revision>
  <dcterms:created xsi:type="dcterms:W3CDTF">2013-01-27T09:14:16Z</dcterms:created>
  <dcterms:modified xsi:type="dcterms:W3CDTF">2026-10-30T23:43:29Z</dcterms:modified>
  <cp:category/>
</cp:coreProperties>
</file>